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58" r:id="rId7"/>
    <p:sldId id="265" r:id="rId8"/>
    <p:sldId id="266" r:id="rId9"/>
    <p:sldId id="267" r:id="rId10"/>
    <p:sldId id="259" r:id="rId11"/>
    <p:sldId id="260" r:id="rId12"/>
    <p:sldId id="268" r:id="rId13"/>
    <p:sldId id="269" r:id="rId14"/>
    <p:sldId id="261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76"/>
  </p:normalViewPr>
  <p:slideViewPr>
    <p:cSldViewPr snapToGrid="0" showGuides="1">
      <p:cViewPr varScale="1">
        <p:scale>
          <a:sx n="118" d="100"/>
          <a:sy n="118" d="100"/>
        </p:scale>
        <p:origin x="208" y="9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3D99-592E-06A1-4B65-061B64B4F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0370" y="2409370"/>
            <a:ext cx="7197726" cy="19763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CheckAR</a:t>
            </a:r>
            <a:r>
              <a:rPr lang="en-US" dirty="0"/>
              <a:t>: AI-Based Car Fault Diagnosis</a:t>
            </a:r>
            <a:br>
              <a:rPr lang="en-US" dirty="0"/>
            </a:br>
            <a:endParaRPr lang="en-C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1B000-B5F6-7626-F0A0-6A798D188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21005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Software Requirements Analysis &amp; Specification</a:t>
            </a:r>
          </a:p>
          <a:p>
            <a:r>
              <a:rPr lang="en-US" dirty="0"/>
              <a:t>Group 11</a:t>
            </a:r>
          </a:p>
          <a:p>
            <a:br>
              <a:rPr lang="en-US" dirty="0"/>
            </a:br>
            <a:r>
              <a:rPr lang="en-US" dirty="0"/>
              <a:t>• University of Buea</a:t>
            </a:r>
          </a:p>
          <a:p>
            <a:br>
              <a:rPr lang="en-US" dirty="0"/>
            </a:br>
            <a:r>
              <a:rPr lang="en-US" dirty="0"/>
              <a:t>• Department of Computer Engineering</a:t>
            </a:r>
          </a:p>
          <a:p>
            <a:endParaRPr lang="en-CM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F9111-38D3-4F4A-58DD-A8C684CDF255}"/>
              </a:ext>
            </a:extLst>
          </p:cNvPr>
          <p:cNvSpPr txBox="1"/>
          <p:nvPr/>
        </p:nvSpPr>
        <p:spPr>
          <a:xfrm>
            <a:off x="2177142" y="631547"/>
            <a:ext cx="6652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M" sz="2800" b="1" dirty="0"/>
              <a:t>CAR REPAIR MADE EASY FOR EASY FOR ALL.</a:t>
            </a:r>
          </a:p>
        </p:txBody>
      </p:sp>
    </p:spTree>
    <p:extLst>
      <p:ext uri="{BB962C8B-B14F-4D97-AF65-F5344CB8AC3E}">
        <p14:creationId xmlns:p14="http://schemas.microsoft.com/office/powerpoint/2010/main" val="157605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6C71-886B-F3A3-B8FF-E77C410E8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Initial Analysis</a:t>
            </a:r>
            <a:r>
              <a:rPr lang="en-US" dirty="0"/>
              <a:t>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BBDFB-160A-7948-9C8F-F025B1E28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717563"/>
            <a:ext cx="10131425" cy="39430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To transform raw user needs into technical specifications.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Inconsistencies:</a:t>
            </a:r>
            <a:r>
              <a:rPr lang="en-US" dirty="0"/>
              <a:t> Resolved overlapping requirements between FR9 (Repair Guidance) and FR19 (Manual Assistance).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Ambiguities:</a:t>
            </a:r>
            <a:r>
              <a:rPr lang="en-US" dirty="0"/>
              <a:t> The term "Fault Detection" was too broad; we narrowed it to dashboard visuals and engine acoustics.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Missing Information:</a:t>
            </a:r>
            <a:r>
              <a:rPr lang="en-US" dirty="0"/>
              <a:t> Verified data storage protocols for offline diagnostic history.</a:t>
            </a:r>
            <a:br>
              <a:rPr lang="en-US" dirty="0"/>
            </a:br>
            <a:endParaRPr lang="en-CM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12CB7-2EEE-C57D-3100-BAD92085F287}"/>
              </a:ext>
            </a:extLst>
          </p:cNvPr>
          <p:cNvSpPr txBox="1"/>
          <p:nvPr/>
        </p:nvSpPr>
        <p:spPr>
          <a:xfrm>
            <a:off x="685800" y="2065867"/>
            <a:ext cx="220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Refining the Vision</a:t>
            </a:r>
          </a:p>
        </p:txBody>
      </p:sp>
    </p:spTree>
    <p:extLst>
      <p:ext uri="{BB962C8B-B14F-4D97-AF65-F5344CB8AC3E}">
        <p14:creationId xmlns:p14="http://schemas.microsoft.com/office/powerpoint/2010/main" val="382778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BCF5A-6B06-96D7-8463-21195C2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Inconsistencies &amp; Redundancies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5AD1F-BA37-966A-5949-F0B5F169A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7" y="2599267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Requirement A:</a:t>
            </a:r>
            <a:r>
              <a:rPr lang="en-US" dirty="0"/>
              <a:t> "Give detailed repair recommendations".</a:t>
            </a:r>
          </a:p>
          <a:p>
            <a:endParaRPr lang="en-US" b="1" dirty="0"/>
          </a:p>
          <a:p>
            <a:r>
              <a:rPr lang="en-US" b="1" dirty="0"/>
              <a:t>Requirement B:</a:t>
            </a:r>
            <a:r>
              <a:rPr lang="en-US" dirty="0"/>
              <a:t> "Provide step-by-step troubleshooting guides".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The Conflict:</a:t>
            </a:r>
            <a:r>
              <a:rPr lang="en-US" dirty="0"/>
              <a:t> Both of these require the app to show the user how to fix a car. If we kept them separate, we would be building the same feature twice, which wastes time and makes the app bigger than it needs to be.</a:t>
            </a:r>
          </a:p>
          <a:p>
            <a:endParaRPr lang="en-CM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DACA6-8672-C803-26E0-23392C14E08E}"/>
              </a:ext>
            </a:extLst>
          </p:cNvPr>
          <p:cNvSpPr txBox="1"/>
          <p:nvPr/>
        </p:nvSpPr>
        <p:spPr>
          <a:xfrm>
            <a:off x="685801" y="1881201"/>
            <a:ext cx="562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M" dirty="0"/>
              <a:t>EXAMPLE CASE</a:t>
            </a:r>
          </a:p>
        </p:txBody>
      </p:sp>
    </p:spTree>
    <p:extLst>
      <p:ext uri="{BB962C8B-B14F-4D97-AF65-F5344CB8AC3E}">
        <p14:creationId xmlns:p14="http://schemas.microsoft.com/office/powerpoint/2010/main" val="58313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8F61-8D96-683B-3466-9CB1B75E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M" dirty="0"/>
              <a:t>SOLUTION TO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64D84-A2BD-E266-47DF-22DCB0640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"Unified Instructional Module”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Instead of having two different sections, we merged them into one single Instructional Module.</a:t>
            </a:r>
            <a:br>
              <a:rPr lang="en-US" dirty="0"/>
            </a:br>
            <a:r>
              <a:rPr lang="en-US" b="1" dirty="0"/>
              <a:t>How it works:</a:t>
            </a:r>
            <a:r>
              <a:rPr lang="en-US" dirty="0"/>
              <a:t> We took the best parts of both requirements to create one solid feature.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When the app detects a "Low Battery" light, this one module provides the </a:t>
            </a:r>
            <a:r>
              <a:rPr lang="en-US" b="1" dirty="0"/>
              <a:t>explanation</a:t>
            </a:r>
            <a:r>
              <a:rPr lang="en-US" dirty="0"/>
              <a:t>, the </a:t>
            </a:r>
            <a:r>
              <a:rPr lang="en-US" b="1" dirty="0"/>
              <a:t>urgency level</a:t>
            </a:r>
            <a:r>
              <a:rPr lang="en-US" dirty="0"/>
              <a:t>, and the </a:t>
            </a:r>
            <a:r>
              <a:rPr lang="en-US" b="1" dirty="0"/>
              <a:t>step-by-step fix</a:t>
            </a:r>
            <a:r>
              <a:rPr lang="en-US" dirty="0"/>
              <a:t> all in one place.</a:t>
            </a:r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300295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B52A-978F-A041-3EB4-B9509CEB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Matters (The Benefits)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7DE90-3854-556B-19EA-FA8DB3F4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Simplicity for the User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Efficiency:</a:t>
            </a:r>
            <a:r>
              <a:rPr lang="en-US" dirty="0"/>
              <a:t> The app runs faster because it isn't carrying "extra weight" or repeating the same information in the background.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Clarity:</a:t>
            </a:r>
            <a:r>
              <a:rPr lang="en-US" dirty="0"/>
              <a:t> It ensures the app always gives one consistent answer to the user's problem.</a:t>
            </a:r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3544879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933C-BBD4-82F4-1DAF-F4E44449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23" y="240268"/>
            <a:ext cx="10131425" cy="1033055"/>
          </a:xfrm>
        </p:spPr>
        <p:txBody>
          <a:bodyPr/>
          <a:lstStyle/>
          <a:p>
            <a:r>
              <a:rPr lang="en-US" dirty="0"/>
              <a:t>The Prioritization Framework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E7EFF-D6E0-4CDF-0CA7-F83D823BD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84" y="2016806"/>
            <a:ext cx="11252674" cy="4674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Objective:</a:t>
            </a:r>
            <a:r>
              <a:rPr lang="en-US" sz="2400" dirty="0"/>
              <a:t> To deliver a Minimum Viable Product (MVP) that provides immediate value before running out of resources.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b="1" dirty="0"/>
              <a:t>Methodology:</a:t>
            </a:r>
            <a:r>
              <a:rPr lang="en-US" dirty="0"/>
              <a:t> </a:t>
            </a:r>
            <a:r>
              <a:rPr lang="en-US" dirty="0" err="1"/>
              <a:t>MoSCoW</a:t>
            </a:r>
            <a:r>
              <a:rPr lang="en-US" dirty="0"/>
              <a:t> (Must, Should, Could, Won't).</a:t>
            </a:r>
            <a:endParaRPr lang="en-US" sz="2400" dirty="0"/>
          </a:p>
          <a:p>
            <a:r>
              <a:rPr lang="en-US" b="1" dirty="0"/>
              <a:t>Must-Have</a:t>
            </a:r>
          </a:p>
          <a:p>
            <a:endParaRPr lang="en-US" dirty="0"/>
          </a:p>
          <a:p>
            <a:r>
              <a:rPr lang="en-US" b="1" dirty="0"/>
              <a:t>Should-Have</a:t>
            </a:r>
          </a:p>
          <a:p>
            <a:endParaRPr lang="en-US" b="1" dirty="0"/>
          </a:p>
          <a:p>
            <a:r>
              <a:rPr lang="en-US" b="1" dirty="0"/>
              <a:t>Could-Have</a:t>
            </a:r>
          </a:p>
          <a:p>
            <a:endParaRPr lang="en-US" b="1" dirty="0"/>
          </a:p>
          <a:p>
            <a:r>
              <a:rPr lang="en-US" b="1" dirty="0"/>
              <a:t>Won’t-Have</a:t>
            </a:r>
            <a:endParaRPr lang="en-CM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F48C9-22B4-7EC7-37AD-3892BAE44F48}"/>
              </a:ext>
            </a:extLst>
          </p:cNvPr>
          <p:cNvSpPr txBox="1"/>
          <p:nvPr/>
        </p:nvSpPr>
        <p:spPr>
          <a:xfrm>
            <a:off x="625980" y="1388530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WE PRIORITIZE</a:t>
            </a:r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152765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AD40-53F1-26E6-A04F-211BBCB8F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"Must-Have" Requirements (Core AI)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6304-275D-6B84-ECAC-D75A1BCC8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250187"/>
          </a:xfrm>
        </p:spPr>
        <p:txBody>
          <a:bodyPr/>
          <a:lstStyle/>
          <a:p>
            <a:r>
              <a:rPr lang="en-US" b="1" dirty="0"/>
              <a:t>Dashboard Scanner:</a:t>
            </a:r>
            <a:r>
              <a:rPr lang="en-US" dirty="0"/>
              <a:t> Real-time CNN-based icon recognition.</a:t>
            </a:r>
          </a:p>
          <a:p>
            <a:endParaRPr lang="en-US" b="1" dirty="0"/>
          </a:p>
          <a:p>
            <a:r>
              <a:rPr lang="en-US" b="1" dirty="0"/>
              <a:t>Acoustic Analyzer:</a:t>
            </a:r>
            <a:r>
              <a:rPr lang="en-US" dirty="0"/>
              <a:t> Engine sound classification (knock, hiss, grind).</a:t>
            </a:r>
          </a:p>
          <a:p>
            <a:endParaRPr lang="en-US" b="1" dirty="0"/>
          </a:p>
          <a:p>
            <a:r>
              <a:rPr lang="en-US" b="1" dirty="0"/>
              <a:t>Report Generation:</a:t>
            </a:r>
            <a:r>
              <a:rPr lang="en-US" dirty="0"/>
              <a:t> Translating AI data into human-readable text.</a:t>
            </a:r>
          </a:p>
          <a:p>
            <a:endParaRPr lang="en-CM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8909D-00C2-3873-3EDF-653FDA0DEDFB}"/>
              </a:ext>
            </a:extLst>
          </p:cNvPr>
          <p:cNvSpPr txBox="1"/>
          <p:nvPr/>
        </p:nvSpPr>
        <p:spPr>
          <a:xfrm>
            <a:off x="991312" y="2213361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Non-Negotiables</a:t>
            </a:r>
          </a:p>
        </p:txBody>
      </p:sp>
    </p:spTree>
    <p:extLst>
      <p:ext uri="{BB962C8B-B14F-4D97-AF65-F5344CB8AC3E}">
        <p14:creationId xmlns:p14="http://schemas.microsoft.com/office/powerpoint/2010/main" val="3955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F876D-4DD2-63D9-5318-339340C4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"Should-Have" &amp; "Could-Have" Features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DBC36-2584-4165-D53F-247D0F126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06089"/>
            <a:ext cx="10131425" cy="3649133"/>
          </a:xfrm>
        </p:spPr>
        <p:txBody>
          <a:bodyPr/>
          <a:lstStyle/>
          <a:p>
            <a:r>
              <a:rPr lang="en-US" b="1" dirty="0"/>
              <a:t>Should-Have:</a:t>
            </a:r>
            <a:r>
              <a:rPr lang="en-US" dirty="0"/>
              <a:t> Maintenance logs and predictive service alerts.</a:t>
            </a:r>
          </a:p>
          <a:p>
            <a:endParaRPr lang="en-US" b="1" dirty="0"/>
          </a:p>
          <a:p>
            <a:r>
              <a:rPr lang="en-US" b="1" dirty="0"/>
              <a:t>Could-Have:</a:t>
            </a:r>
            <a:r>
              <a:rPr lang="en-US" dirty="0"/>
              <a:t> Live mechanic chat and community forums.</a:t>
            </a:r>
          </a:p>
          <a:p>
            <a:endParaRPr lang="en-US" dirty="0"/>
          </a:p>
          <a:p>
            <a:r>
              <a:rPr lang="en-US" b="1" dirty="0"/>
              <a:t>Strategic Choice:</a:t>
            </a:r>
            <a:r>
              <a:rPr lang="en-US" dirty="0"/>
              <a:t> These add "stickiness" to the app but are secondary to the diagnostic AI.</a:t>
            </a:r>
          </a:p>
          <a:p>
            <a:endParaRPr lang="en-CM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010BA-3033-3AEF-F24E-1280E218018A}"/>
              </a:ext>
            </a:extLst>
          </p:cNvPr>
          <p:cNvSpPr txBox="1"/>
          <p:nvPr/>
        </p:nvSpPr>
        <p:spPr>
          <a:xfrm>
            <a:off x="803305" y="2213361"/>
            <a:ext cx="3092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Enhancing the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107650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72DD-646A-A67C-63B2-E16647DA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&amp; "Won't-Have"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64B8-B835-5A4B-A1D3-ED4DF1AEB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77005"/>
            <a:ext cx="10131425" cy="3649133"/>
          </a:xfrm>
        </p:spPr>
        <p:txBody>
          <a:bodyPr/>
          <a:lstStyle/>
          <a:p>
            <a:r>
              <a:rPr lang="en-US" b="1" dirty="0"/>
              <a:t>OBD-II Integration:</a:t>
            </a:r>
            <a:r>
              <a:rPr lang="en-US" dirty="0"/>
              <a:t> Removed to keep the app "hardware-free" and accessible.</a:t>
            </a:r>
          </a:p>
          <a:p>
            <a:endParaRPr lang="en-US" b="1" dirty="0"/>
          </a:p>
          <a:p>
            <a:r>
              <a:rPr lang="en-US" b="1" dirty="0"/>
              <a:t>Real-time Driving Analysis:</a:t>
            </a:r>
            <a:r>
              <a:rPr lang="en-US" dirty="0"/>
              <a:t> Omitted due to safety concerns regarding phone usage while driving.</a:t>
            </a:r>
          </a:p>
          <a:p>
            <a:endParaRPr lang="en-CM" dirty="0"/>
          </a:p>
          <a:p>
            <a:pPr marL="0" indent="0">
              <a:buNone/>
            </a:pPr>
            <a:r>
              <a:rPr lang="en-US" dirty="0"/>
              <a:t>We intentionally left out OBD-II hardware. We want this app to be used by the person on the side of the road who has nothing but their phone.</a:t>
            </a:r>
          </a:p>
          <a:p>
            <a:endParaRPr lang="en-CM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D95E1-4BE6-05F5-0389-D1A3546CCC74}"/>
              </a:ext>
            </a:extLst>
          </p:cNvPr>
          <p:cNvSpPr txBox="1"/>
          <p:nvPr/>
        </p:nvSpPr>
        <p:spPr>
          <a:xfrm>
            <a:off x="871671" y="2264636"/>
            <a:ext cx="2009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Strategic Omissions</a:t>
            </a:r>
          </a:p>
        </p:txBody>
      </p:sp>
    </p:spTree>
    <p:extLst>
      <p:ext uri="{BB962C8B-B14F-4D97-AF65-F5344CB8AC3E}">
        <p14:creationId xmlns:p14="http://schemas.microsoft.com/office/powerpoint/2010/main" val="295301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78EF-EB6F-C3B7-9756-8E960B50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Functional Requirements (The "What")</a:t>
            </a:r>
            <a:r>
              <a:rPr lang="en-US" dirty="0"/>
              <a:t>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469B2-D96C-DDCF-2CD0-57ACCD314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238997"/>
            <a:ext cx="10131425" cy="4708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AI Diagnosis:</a:t>
            </a:r>
            <a:r>
              <a:rPr lang="en-US" dirty="0"/>
              <a:t> Automatic detection of dashboard icons via the camera.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Sound Analysis:</a:t>
            </a:r>
            <a:r>
              <a:rPr lang="en-US" dirty="0"/>
              <a:t> Real-time processing of engine noise to detect mechanical failure.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User Management:</a:t>
            </a:r>
            <a:r>
              <a:rPr lang="en-US" dirty="0"/>
              <a:t> Secure profiles for storing vehicle history and reports.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Offline Access:</a:t>
            </a:r>
            <a:r>
              <a:rPr lang="en-US" dirty="0"/>
              <a:t> On-device AI inference for areas with poor connectivity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Audio Sampling:</a:t>
            </a:r>
            <a:r>
              <a:rPr lang="en-US" dirty="0"/>
              <a:t> 44.1kHz sampling rate for high-fidelity engine noise capture.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 Persistence:</a:t>
            </a:r>
            <a:r>
              <a:rPr lang="en-US" dirty="0"/>
              <a:t> Secure local database (SQLite) for history.</a:t>
            </a:r>
          </a:p>
          <a:p>
            <a:pPr marL="0" indent="0">
              <a:buNone/>
            </a:pPr>
            <a:endParaRPr lang="en-US" dirty="0"/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3301040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7460-41E7-AB94-9961-009A3527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Non-Functional Requirements (The "How Well")</a:t>
            </a:r>
            <a:r>
              <a:rPr lang="en-US" dirty="0"/>
              <a:t>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823BD-882C-2D54-734E-E79324E2A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Accuracy:</a:t>
            </a:r>
            <a:r>
              <a:rPr lang="en-US" dirty="0"/>
              <a:t> Target of 90% or higher for icon and sound classification.</a:t>
            </a:r>
          </a:p>
          <a:p>
            <a:endParaRPr lang="en-US" dirty="0"/>
          </a:p>
          <a:p>
            <a:r>
              <a:rPr lang="en-US" b="1" dirty="0"/>
              <a:t>Performance:</a:t>
            </a:r>
            <a:r>
              <a:rPr lang="en-US" dirty="0"/>
              <a:t> Diagnostic results must be delivered in under 5 seconds.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 </a:t>
            </a:r>
            <a:r>
              <a:rPr lang="en-US" b="1" dirty="0"/>
              <a:t>Usability:</a:t>
            </a:r>
            <a:r>
              <a:rPr lang="en-US" dirty="0"/>
              <a:t> Minimalist interface—no technical jargon in user reports.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Security:</a:t>
            </a:r>
            <a:r>
              <a:rPr lang="en-US" dirty="0"/>
              <a:t> End-to-end encryption for user data and vehicle history.</a:t>
            </a:r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1157575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77DCC-9A7F-AE72-4059-919CCF29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Transitioning to the SRS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922BE-8B6E-1F44-E775-8A7CF1645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244616"/>
            <a:ext cx="10131425" cy="3649133"/>
          </a:xfrm>
        </p:spPr>
        <p:txBody>
          <a:bodyPr/>
          <a:lstStyle/>
          <a:p>
            <a:r>
              <a:rPr lang="en-US" b="1" dirty="0"/>
              <a:t>The SRS Defined:</a:t>
            </a:r>
            <a:r>
              <a:rPr lang="en-US" dirty="0"/>
              <a:t> A formal document that describes "what" the software will do without defining "how" it will be built.</a:t>
            </a:r>
          </a:p>
          <a:p>
            <a:endParaRPr lang="en-US" b="1" dirty="0"/>
          </a:p>
          <a:p>
            <a:r>
              <a:rPr lang="en-US" b="1" dirty="0"/>
              <a:t>The Translation Process:</a:t>
            </a:r>
            <a:r>
              <a:rPr lang="en-US" dirty="0"/>
              <a:t> Converting user-centric functional and non-functional needs into technical system requirements.</a:t>
            </a:r>
          </a:p>
          <a:p>
            <a:endParaRPr lang="en-US" dirty="0"/>
          </a:p>
          <a:p>
            <a:r>
              <a:rPr lang="en-US" b="1" dirty="0"/>
              <a:t>Standardization:</a:t>
            </a:r>
            <a:r>
              <a:rPr lang="en-US" dirty="0"/>
              <a:t> Adhering to the IEEE 830 standard to ensure the document is complete, consistent, and traceable.</a:t>
            </a:r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52990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FD39-8A90-45CC-5558-0E6FC105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the </a:t>
            </a:r>
            <a:r>
              <a:rPr lang="en-US" dirty="0" err="1"/>
              <a:t>CheckAR</a:t>
            </a:r>
            <a:r>
              <a:rPr lang="en-US" dirty="0"/>
              <a:t> SRS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ECE3A-0901-95A5-1E79-ED14B16DC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798" y="2791548"/>
            <a:ext cx="10131425" cy="3649133"/>
          </a:xfrm>
        </p:spPr>
        <p:txBody>
          <a:bodyPr/>
          <a:lstStyle/>
          <a:p>
            <a:r>
              <a:rPr lang="en-US" b="1" dirty="0"/>
              <a:t>Introduction:</a:t>
            </a:r>
            <a:r>
              <a:rPr lang="en-US" dirty="0"/>
              <a:t> Scope, definitions, and project overview.</a:t>
            </a:r>
          </a:p>
          <a:p>
            <a:endParaRPr lang="en-US" dirty="0"/>
          </a:p>
          <a:p>
            <a:r>
              <a:rPr lang="en-US" b="1" dirty="0"/>
              <a:t>Overall Description:</a:t>
            </a:r>
            <a:r>
              <a:rPr lang="en-US" dirty="0"/>
              <a:t> Product perspective, user classes, and operating environment.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System Features:</a:t>
            </a:r>
            <a:r>
              <a:rPr lang="en-US" dirty="0"/>
              <a:t> Detailed breakdown of functional requirements.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External Interface Requirements:</a:t>
            </a:r>
            <a:r>
              <a:rPr lang="en-US" dirty="0"/>
              <a:t> User, hardware, and software interfaces.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Non-functional Requirements:</a:t>
            </a:r>
            <a:r>
              <a:rPr lang="en-US" dirty="0"/>
              <a:t> Performance, safety, and security constraints.</a:t>
            </a:r>
          </a:p>
          <a:p>
            <a:endParaRPr lang="en-CM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13088-ADEE-8944-F705-A7E1BA92F6AA}"/>
              </a:ext>
            </a:extLst>
          </p:cNvPr>
          <p:cNvSpPr txBox="1"/>
          <p:nvPr/>
        </p:nvSpPr>
        <p:spPr>
          <a:xfrm>
            <a:off x="685801" y="2065867"/>
            <a:ext cx="3379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Organizing the Technical Blueprint</a:t>
            </a:r>
          </a:p>
        </p:txBody>
      </p:sp>
    </p:spTree>
    <p:extLst>
      <p:ext uri="{BB962C8B-B14F-4D97-AF65-F5344CB8AC3E}">
        <p14:creationId xmlns:p14="http://schemas.microsoft.com/office/powerpoint/2010/main" val="3885024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47E9-CBB5-AF83-40BE-41770979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things added to </a:t>
            </a:r>
            <a:r>
              <a:rPr lang="en-US" b="1" dirty="0" err="1"/>
              <a:t>srs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0CAD0-0D9E-4267-7A22-3941CC9C0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User Interfaces:</a:t>
            </a:r>
            <a:r>
              <a:rPr lang="en-US" dirty="0"/>
              <a:t> Flutter-based cross-platform design for iOS and Android.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Hardware Interfaces:</a:t>
            </a:r>
            <a:r>
              <a:rPr lang="en-US" dirty="0"/>
              <a:t> Requires high-fidelity microphone and autofocus camera.</a:t>
            </a:r>
          </a:p>
          <a:p>
            <a:endParaRPr lang="en-US" dirty="0"/>
          </a:p>
          <a:p>
            <a:r>
              <a:rPr lang="en-US" b="1" dirty="0"/>
              <a:t>Software Interfaces:</a:t>
            </a:r>
            <a:r>
              <a:rPr lang="en-US" dirty="0"/>
              <a:t> Integration with Firebase (Auth) and TensorFlow Lite (AI) for on Device AI models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Communications:</a:t>
            </a:r>
            <a:r>
              <a:rPr lang="en-US" dirty="0"/>
              <a:t> Secure HTTPS protocols for cloud synchronization.</a:t>
            </a:r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1170799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FB653-C5C0-C406-45B0-98A6FD72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Validation and Risk Mitigation</a:t>
            </a:r>
            <a:r>
              <a:rPr lang="en-US" dirty="0"/>
              <a:t>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755F-0DEC-899C-9CB6-E59867ECE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Stakeholder Feedback:</a:t>
            </a:r>
            <a:r>
              <a:rPr lang="en-US" dirty="0"/>
              <a:t> Validated features by interviewing the car mechanics who </a:t>
            </a:r>
            <a:r>
              <a:rPr lang="en-US" dirty="0" err="1"/>
              <a:t>responsded</a:t>
            </a:r>
            <a:r>
              <a:rPr lang="en-US" dirty="0"/>
              <a:t> to our Survey.</a:t>
            </a:r>
          </a:p>
          <a:p>
            <a:endParaRPr lang="en-US" dirty="0"/>
          </a:p>
          <a:p>
            <a:r>
              <a:rPr lang="en-US" b="1" dirty="0"/>
              <a:t>Risk: Providing the user with information on whether they are permitted to carry out certain actions.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Mitigation:</a:t>
            </a:r>
            <a:r>
              <a:rPr lang="en-US" dirty="0"/>
              <a:t> Implemented noise-cancellation filters and clear "Consult a Professional" disclaimers.</a:t>
            </a:r>
            <a:br>
              <a:rPr lang="en-US" dirty="0"/>
            </a:br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140920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DCCE-2672-19BE-B257-42336C93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r>
              <a:rPr lang="en-US" dirty="0"/>
              <a:t> </a:t>
            </a:r>
            <a:endParaRPr lang="en-C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61112-D618-7526-BD67-2E91CFCF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are now verified, prioritized, and documented.</a:t>
            </a:r>
          </a:p>
          <a:p>
            <a:endParaRPr lang="en-US" dirty="0"/>
          </a:p>
          <a:p>
            <a:r>
              <a:rPr lang="en-US" dirty="0"/>
              <a:t>The project is ready for the high-fidelity design and development phase.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  Focus remains on delivering an accurate, AI-first user experience that meets users needs.</a:t>
            </a:r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34644869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50</TotalTime>
  <Words>938</Words>
  <Application>Microsoft Macintosh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Celestial</vt:lpstr>
      <vt:lpstr>CheckAR: AI-Based Car Fault Diagnosis </vt:lpstr>
      <vt:lpstr>Review of Initial Analysis </vt:lpstr>
      <vt:lpstr>Identifying Inconsistencies &amp; Redundancies </vt:lpstr>
      <vt:lpstr>SOLUTION TO CONFLICT</vt:lpstr>
      <vt:lpstr>Why This Matters (The Benefits)</vt:lpstr>
      <vt:lpstr>The Prioritization Framework </vt:lpstr>
      <vt:lpstr>"Must-Have" Requirements (Core AI) </vt:lpstr>
      <vt:lpstr>"Should-Have" &amp; "Could-Have" Features </vt:lpstr>
      <vt:lpstr>Feasibility &amp; "Won't-Have" </vt:lpstr>
      <vt:lpstr>Functional Requirements (The "What") </vt:lpstr>
      <vt:lpstr>Non-Functional Requirements (The "How Well") </vt:lpstr>
      <vt:lpstr>Transitioning to the SRS </vt:lpstr>
      <vt:lpstr>Structure of the CheckAR SRS </vt:lpstr>
      <vt:lpstr>Key things added to srs</vt:lpstr>
      <vt:lpstr>Validation and Risk Mitigation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Funwi Kelsea</dc:creator>
  <cp:lastModifiedBy>Funwi Kelsea</cp:lastModifiedBy>
  <cp:revision>29</cp:revision>
  <dcterms:created xsi:type="dcterms:W3CDTF">2026-05-11T21:00:29Z</dcterms:created>
  <dcterms:modified xsi:type="dcterms:W3CDTF">2026-05-11T21:50:55Z</dcterms:modified>
</cp:coreProperties>
</file>